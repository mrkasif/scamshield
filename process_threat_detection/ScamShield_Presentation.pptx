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 i="0">
                <a:solidFill>
                  <a:srgbClr val="276EF1"/>
                </a:solidFill>
                <a:latin typeface="Segoe UI"/>
              </a:rPr>
              <a:t>SCAMSHIELD</a:t>
            </a:r>
          </a:p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000000"/>
                </a:solidFill>
                <a:latin typeface="Segoe UI"/>
              </a:rPr>
              <a:t>Indian Digital Scam Intelligence &amp; Prevention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77639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9AA6BC"/>
                </a:solidFill>
                <a:latin typeface="Segoe UI"/>
              </a:rPr>
              <a:t>Complete project presentation — technologies, working flow, program flow, usage, and start-to-end progress.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8EEF9"/>
                </a:solidFill>
                <a:latin typeface="Segoe UI"/>
              </a:rPr>
              <a:t>Version 0.3.0 (post final audit)  •  472 tests passing  •  100% local · offline · explainable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Why Indian scam &amp; threat-link detection matters (problem &amp; motivation)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Proposed system: unified 0–100 explainable risk across messages, URLs, QR &amp; UPI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Supporting scam categories &amp; multilingual coverage (en · hi · mr · hinglish)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Technologies used &amp; repository layout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System architecture &amp; program working flow (with visuals)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Multi-stage attack-chain flow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Security &amp; privacy model (static-only, offline, no PII)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Evaluation &amp; research results (472 tests, metrics)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Start-to-end development progress (Steps 1–10 + final audit)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9"/>
                </a:solidFill>
                <a:latin typeface="Segoe UI"/>
              </a:rPr>
              <a:t>•  How to use: web command center, REST API, CLI, library, training &amp;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5486400" cy="320040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02920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76EF1"/>
                </a:solidFill>
                <a:latin typeface="Segoe UI"/>
              </a:rPr>
              <a:t>The problem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8EEF9"/>
                </a:solidFill>
                <a:latin typeface="Segoe UI"/>
              </a:rPr>
              <a:t>Indian users face scams spread across multiple channels — SMS, WhatsApp/Telegram, malicious URLs, QR codes and UPI payment strings — delivered in multiple languages and code-mixed Hinglish.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8EEF9"/>
                </a:solidFill>
                <a:latin typeface="Segoe UI"/>
              </a:rPr>
              <a:t>Most tools are built for clean English or a single channel, and produce a bare 'safe / unsafe' verdict with no explanation.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63040"/>
            <a:ext cx="5303520" cy="320040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8463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76EF1"/>
                </a:solidFill>
                <a:latin typeface="Segoe UI"/>
              </a:rPr>
              <a:t>Our response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8EEF9"/>
                </a:solidFill>
                <a:latin typeface="Segoe UI"/>
              </a:rPr>
              <a:t>A fully-local, offline, deterministic system that explains WHY: a 0–100 risk score, LOW/MED/HIGH/CRITICAL level, scam category, indicators, evidence and recommendations.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E8EEF9"/>
                </a:solidFill>
                <a:latin typeface="Segoe UI"/>
              </a:rPr>
              <a:t>Zero running cost, no paid APIs, no internet call at analysis time.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92040"/>
            <a:ext cx="11109960" cy="100584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E8EEF9"/>
                </a:solidFill>
                <a:latin typeface="Segoe UI"/>
              </a:rPr>
              <a:t>Core honesty principle: risk scores are labelled heuristics, ML confidence is the raw model probability, and every limitation is documented.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Proposed System &amp; Scam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5486400" cy="365760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76EF1"/>
                </a:solidFill>
                <a:latin typeface="Segoe UI"/>
              </a:rPr>
              <a:t>Unified analyzer output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risk_score (0–100) + risk_level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scam_type (fake_kyc, phishing, …)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is_suspicious + confidence (labelled)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indicators + evidence + explanation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recommendations + full engine_results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channel: message · URL · QR · UPI · chain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303520" cy="365760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48463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76EF1"/>
                </a:solidFill>
                <a:latin typeface="Segoe UI"/>
              </a:rPr>
              <a:t>Scam categories monitored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Fake KYC · UPI/payment scams · Bank impersonation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Phishing · Fake customer care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Job scams · Investment scams · Loan scams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Delivery scams · Lottery/prize scams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•  Social-media impersonation · Other social-engineering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257800"/>
            <a:ext cx="11109960" cy="77724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413248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1">
                <a:solidFill>
                  <a:srgbClr val="E8EEF9"/>
                </a:solidFill>
                <a:latin typeface="Segoe UI"/>
              </a:rPr>
              <a:t>Languages: English · Hindi · Marathi · Hinglish (code-mixing) — all analysed through curated multilingual dictionaries.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15568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Python 3.14.6   —   Core engine, ML, web, research &amp; docs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Flask 3.x   —   Final web command center + REST API (web/app.py)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Streamlit 1.32.x   —   LEGACY prototype UI only — not the final frontend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scikit-learn 1.3.x   —   TF-IDF + Logistic Regression local ML (offline)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OpenCV headless 4.8.x   —   Local QR decoding (no cloud OCR)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qrcode / numpy / joblib   —   QR fixtures, arrays, model persistence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pytest — 472 tests   —   10 suites: message 50 · URL 95 · QR 56 · unified 84 · ML 40 · chain 49 · API 28 · frontend 16 · research 30 · web 24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Vanilla HTML/CSS/JS   —   Single-page UI — zero frontend framework, XSS-safe (esc())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python-docx / reportlab / python-pptx / matplotlib   —   This documentation + assets</a:t>
            </a:r>
          </a:p>
          <a:p>
            <a:pPr algn="l">
              <a:spcAft>
                <a:spcPts val="8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Python stdlib   —   urllib.parse · re · csv · json · tempfile · pathlib — no sockets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System Architecture (fully offline)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AA6BC"/>
                </a:solidFill>
                <a:latin typeface="Segoe UI"/>
              </a:rPr>
              <a:t>Data flows one way: inputs → engines → unified result → UI, with no external calls.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05</a:t>
            </a:r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71600"/>
            <a:ext cx="9601200" cy="5405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Working Flow — Program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AA6BC"/>
                </a:solidFill>
                <a:latin typeface="Segoe UI"/>
              </a:rPr>
              <a:t>What a single analyze() call does under the hood.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06</a:t>
            </a:r>
          </a:p>
        </p:txBody>
      </p:sp>
      <p:pic>
        <p:nvPicPr>
          <p:cNvPr id="7" name="Picture 6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698480" cy="61623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053328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9AA6BC"/>
                </a:solidFill>
                <a:latin typeface="Segoe UI"/>
              </a:rPr>
              <a:t>Routing: message → NLP · url → URL engine · upi → UPI scorer · qr → decode then route · chain → correlation. Failures return structured success=False — never a crash.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Multi-Stage Attack-Chain Flow (chain correlation)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07</a:t>
            </a:r>
          </a:p>
        </p:txBody>
      </p:sp>
      <p:pic>
        <p:nvPicPr>
          <p:cNvPr id="6" name="Picture 5" descr="chain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25880"/>
            <a:ext cx="9052560" cy="47797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9AA6BC"/>
                </a:solidFill>
                <a:latin typeface="Segoe UI"/>
              </a:rPr>
              <a:t>Correlates already-analyzed artifacts (exact URL / root domain / UPI payee / category family). Never a plain average, never below the strongest stage — correlation, not proof of intent.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Security &amp; Privacy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Fully offline: no sockets, DNS, HTTP or urlopen in any engine (only urllib.parse + Path.resolve).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URLs &amp; UPI strings analysed statically — never opened, resolved, followed, fetched or executed.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QR uploads: 5 MiB + extension validated; temp file deleted in a finally block (tested).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No stack traces leaked: 400/404/405/413/500 return structured JSON; debug off by default.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Web UI HTML-escapes every injected value — no XSS (verified by audit).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No secrets, API keys, credentials or private data stored or logged anywhere.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Dataset privacy: [OTP], [PHONE], [ACCOUNT], XX12, *.example.in, RFC 5737 IPs — no real PII.</a:t>
            </a:r>
          </a:p>
          <a:p>
            <a:pPr algn="l">
              <a:spcAft>
                <a:spcPts val="1000"/>
              </a:spcAft>
            </a:pPr>
            <a:r>
              <a:rPr sz="1450" b="0" i="0">
                <a:solidFill>
                  <a:srgbClr val="E8EEF9"/>
                </a:solidFill>
                <a:latin typeface="Segoe UI"/>
              </a:rPr>
              <a:t>•  Stateless, no database, no cookies — local-first, WSGI-hostable.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760720"/>
            <a:ext cx="11109960" cy="64008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87044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8EEF9"/>
                </a:solidFill>
                <a:latin typeface="Segoe UI"/>
              </a:rPr>
              <a:t>Design rule: considered malicious only if the evidence is concrete; unknown schemes are never auto-flagged.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Evaluation &amp; Research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AA6BC"/>
                </a:solidFill>
                <a:latin typeface="Segoe UI"/>
              </a:rPr>
              <a:t>Frozen deduplicated test set, n=106.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09</a:t>
            </a:r>
          </a:p>
        </p:txBody>
      </p:sp>
      <p:pic>
        <p:nvPicPr>
          <p:cNvPr id="7" name="Picture 6" descr="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25880"/>
            <a:ext cx="6583680" cy="32918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01000" y="1417320"/>
            <a:ext cx="3657600" cy="448056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2004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76EF1"/>
                </a:solidFill>
                <a:latin typeface="Segoe UI"/>
              </a:rPr>
              <a:t>Key numbers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E8EEF9"/>
                </a:solidFill>
                <a:latin typeface="Segoe UI"/>
              </a:rPr>
              <a:t>•  Rule engine — F1 0.8286 (high precision 0.9667)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E8EEF9"/>
                </a:solidFill>
                <a:latin typeface="Segoe UI"/>
              </a:rPr>
              <a:t>•  Local ML — Acc 0.9906 · F1 0.9937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E8EEF9"/>
                </a:solidFill>
                <a:latin typeface="Segoe UI"/>
              </a:rPr>
              <a:t>•  22 FN (missed scams) + 2 FP — documented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E8EEF9"/>
                </a:solidFill>
                <a:latin typeface="Segoe UI"/>
              </a:rPr>
              <a:t>•  Message ≈28 ms · URL ≈1.8 ms · QR ≈23 ms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E8EEF9"/>
                </a:solidFill>
                <a:latin typeface="Segoe UI"/>
              </a:rPr>
              <a:t>•  ML kept separate from the rule verdict (never hides a real signal)</a:t>
            </a:r>
          </a:p>
          <a:p>
            <a:pPr algn="l">
              <a:spcAft>
                <a:spcPts val="900"/>
              </a:spcAft>
            </a:pPr>
            <a:r>
              <a:rPr sz="1250" b="0" i="0">
                <a:solidFill>
                  <a:srgbClr val="E8EEF9"/>
                </a:solidFill>
                <a:latin typeface="Segoe UI"/>
              </a:rPr>
              <a:t>•  Leakage-clean subset re-evaluated at runtime (honest audit)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Test Coverage — 472 Tests, 10 Suites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10</a:t>
            </a:r>
          </a:p>
        </p:txBody>
      </p:sp>
      <p:pic>
        <p:nvPicPr>
          <p:cNvPr id="6" name="Picture 5" descr="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25880"/>
            <a:ext cx="9601200" cy="49554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9AA6BC"/>
                </a:solidFill>
                <a:latin typeface="Segoe UI"/>
              </a:rPr>
              <a:t>Breakdown: URL 95 · unified 84 · QR 56 · message 50 · chain 49 · ML 40 · research 30 · Flask API 28 · web scenarios 24 · frontend 16. Compileall clean.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Start-to-End Development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96012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9AA6BC"/>
                </a:solidFill>
                <a:latin typeface="Segoe UI"/>
              </a:rPr>
              <a:t>Steps 1–10 plus the final audit.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11</a:t>
            </a:r>
          </a:p>
        </p:txBody>
      </p:sp>
      <p:pic>
        <p:nvPicPr>
          <p:cNvPr id="7" name="Picture 6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881360" cy="41217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1">
                <a:solidFill>
                  <a:srgbClr val="9AA6BC"/>
                </a:solidFill>
                <a:latin typeface="Segoe UI"/>
              </a:rPr>
              <a:t>Step 1 setup &amp; datasets → message → URL → QR/UPI → unified → ML → chain → Streamlit → Flask + API → research lab → final audit (patterns fixed, deps cleaned, research re-run, docs corrected).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How to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420624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50292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76EF1"/>
                </a:solidFill>
                <a:latin typeface="Segoe UI"/>
              </a:rPr>
              <a:t>Web command center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9C6B"/>
                </a:solidFill>
                <a:latin typeface="Consolas"/>
              </a:rPr>
              <a:t>python web/app.py  →  http://127.0.0.1:5000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8 pages: Overview · Message · URL · QR · UPI · Attack Chain · Research · Status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E8EEF9"/>
                </a:solidFill>
                <a:latin typeface="Segoe UI"/>
              </a:rPr>
              <a:t>API: /api/analyze/{message,url,upi} · /api/analyze/qr (multipart) · /api/analyze/chain · /api/health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371600"/>
            <a:ext cx="5303520" cy="420624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84632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76EF1"/>
                </a:solidFill>
                <a:latin typeface="Segoe UI"/>
              </a:rPr>
              <a:t>CLI &amp; library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9C6B"/>
                </a:solidFill>
                <a:latin typeface="Consolas"/>
              </a:rPr>
              <a:t>python -m app.scan "Your KYC has expired..."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9C6B"/>
                </a:solidFill>
                <a:latin typeface="Consolas"/>
              </a:rPr>
              <a:t>from scamshield import analyze; analyze("message", ...)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9C6B"/>
                </a:solidFill>
                <a:latin typeface="Consolas"/>
              </a:rPr>
              <a:t>python -m src.scamshield.ml.train  (retrain ML)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9C6B"/>
                </a:solidFill>
                <a:latin typeface="Consolas"/>
              </a:rPr>
              <a:t>python -m app.research_eval  (evaluation lab → models/research/)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F9C6B"/>
                </a:solidFill>
                <a:latin typeface="Consolas"/>
              </a:rPr>
              <a:t>python -m pytest tests/ -q  →  472 passed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760720"/>
            <a:ext cx="11109960" cy="685800"/>
          </a:xfrm>
          <a:prstGeom prst="rect">
            <a:avLst/>
          </a:prstGeom>
          <a:solidFill>
            <a:srgbClr val="17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E8EEF9"/>
                </a:solidFill>
                <a:latin typeface="Segoe UI"/>
              </a:rPr>
              <a:t>Use it to: paste a suspicious SMS · check a link · upload a QR · inspect a UPI string · build an attack chain · browse research.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000000"/>
                </a:solidFill>
                <a:latin typeface="Segoe UI"/>
              </a:rP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6576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2000" b="1" i="0">
                <a:solidFill>
                  <a:srgbClr val="276EF1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E8EEF9"/>
                </a:solidFill>
                <a:latin typeface="Segoe UI"/>
              </a:rPr>
              <a:t>•  Exact-phrase rule engine: heavily paraphrased scam variants can score LOW/MEDIUM (documented conservative misses).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E8EEF9"/>
                </a:solidFill>
                <a:latin typeface="Segoe UI"/>
              </a:rPr>
              <a:t>•  Small known FP pair: protective “do not share UPI PIN”-style receipts can be flagged (precision trade-off).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E8EEF9"/>
                </a:solidFill>
                <a:latin typeface="Segoe UI"/>
              </a:rPr>
              <a:t>•  Chain layer needs already-analyzed artifacts (the UI handles it); correlation is not proof of intent.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E8EEF9"/>
                </a:solidFill>
                <a:latin typeface="Segoe UI"/>
              </a:rPr>
              <a:t>•  Local ML is a binary classifier on a small synthetic dataset with class imbalance &amp; leakage — not a production claim.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E8EEF9"/>
                </a:solidFill>
                <a:latin typeface="Segoe UI"/>
              </a:rPr>
              <a:t>•  URL/UPI analysis is static: no live reputation, DNS or threat-intel — a deliberate offline/no-paid-API choice.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E8EEF9"/>
                </a:solidFill>
                <a:latin typeface="Segoe UI"/>
              </a:rPr>
              <a:t>•  Latency &amp; accuracy figures come from the local research lab, not production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 i="1">
                <a:solidFill>
                  <a:srgbClr val="9AA6BC"/>
                </a:solidFill>
                <a:latin typeface="Segoe UI"/>
              </a:rPr>
              <a:t>Every weakness is documented in the research lab and READMEs — nothing is hidden or inflated.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76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276EF1"/>
                </a:solidFill>
                <a:latin typeface="Segoe UI"/>
              </a:rPr>
              <a:t>Final Status: SCAMSHIELD FINAL AUDIT COMPLETE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Segoe UI"/>
              </a:rPr>
              <a:t>472 tests passing · 22/22 live API checks · full E2E verified over real HTTP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E8EEF9"/>
                </a:solidFill>
                <a:latin typeface="Segoe UI"/>
              </a:rPr>
              <a:t>Ready as a local, offline, explainable Indian scam &amp; threat-link detection prototype — every technology, working flow, program flow and the complete start-to-end progress are documented in the PDF &amp; DOCX companions.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9AA6BC"/>
                </a:solidFill>
                <a:latin typeface="Segoe UI"/>
              </a:rPr>
              <a:t>process_threat_detection/  •  ScamShield_Project_Details.docx · .pdf ·  ScamShield_Presentation.pptx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